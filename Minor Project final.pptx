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71" r:id="rId13"/>
    <p:sldId id="272" r:id="rId14"/>
    <p:sldId id="267" r:id="rId15"/>
    <p:sldId id="264" r:id="rId16"/>
    <p:sldId id="273" r:id="rId17"/>
    <p:sldId id="274" r:id="rId18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04"/>
  </p:normalViewPr>
  <p:slideViewPr>
    <p:cSldViewPr>
      <p:cViewPr varScale="1">
        <p:scale>
          <a:sx n="108" d="100"/>
          <a:sy n="108" d="100"/>
        </p:scale>
        <p:origin x="1032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81" y="2342515"/>
            <a:ext cx="9094788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2027389"/>
            <a:ext cx="9448800" cy="52825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4575" y="523532"/>
            <a:ext cx="1066800" cy="11136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9975" y="561568"/>
            <a:ext cx="4752975" cy="666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600" y="228422"/>
            <a:ext cx="9467850" cy="7100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234" y="248602"/>
            <a:ext cx="8844280" cy="921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143" y="3405629"/>
            <a:ext cx="6405245" cy="1914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3820" y="7027545"/>
            <a:ext cx="246094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di.org/online-voti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4640" y="1206637"/>
            <a:ext cx="4800600" cy="4826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  <a:tabLst>
                <a:tab pos="1983105" algn="l"/>
                <a:tab pos="2964815" algn="l"/>
                <a:tab pos="3395979" algn="l"/>
              </a:tabLst>
            </a:pPr>
            <a:r>
              <a:rPr sz="1400" dirty="0">
                <a:latin typeface="Arial MT"/>
                <a:cs typeface="Arial MT"/>
              </a:rPr>
              <a:t>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51515"/>
                </a:solidFill>
                <a:latin typeface="Arial MT"/>
                <a:cs typeface="Arial MT"/>
              </a:rPr>
              <a:t>E</a:t>
            </a:r>
            <a:r>
              <a:rPr sz="1400" spc="85" dirty="0">
                <a:solidFill>
                  <a:srgbClr val="151515"/>
                </a:solidFill>
                <a:latin typeface="Arial MT"/>
                <a:cs typeface="Arial MT"/>
              </a:rPr>
              <a:t>  </a:t>
            </a:r>
            <a:r>
              <a:rPr sz="1400" dirty="0">
                <a:solidFill>
                  <a:srgbClr val="1D1D1D"/>
                </a:solidFill>
                <a:latin typeface="Arial MT"/>
                <a:cs typeface="Arial MT"/>
              </a:rPr>
              <a:t>C</a:t>
            </a:r>
            <a:r>
              <a:rPr sz="1400" spc="-20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E0E0E"/>
                </a:solidFill>
                <a:latin typeface="Arial MT"/>
                <a:cs typeface="Arial MT"/>
              </a:rPr>
              <a:t>O</a:t>
            </a:r>
            <a:r>
              <a:rPr sz="1400" spc="-11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51515"/>
                </a:solidFill>
                <a:latin typeface="Arial MT"/>
                <a:cs typeface="Arial MT"/>
              </a:rPr>
              <a:t>M</a:t>
            </a:r>
            <a:r>
              <a:rPr sz="1400" spc="1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P</a:t>
            </a:r>
            <a:r>
              <a:rPr sz="1400" spc="-11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C0C0C"/>
                </a:solidFill>
                <a:latin typeface="Arial MT"/>
                <a:cs typeface="Arial MT"/>
              </a:rPr>
              <a:t>L</a:t>
            </a:r>
            <a:r>
              <a:rPr sz="1400" spc="-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400" spc="100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sz="1400" spc="100" dirty="0">
                <a:latin typeface="Arial MT"/>
                <a:cs typeface="Arial MT"/>
              </a:rPr>
              <a:t>T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E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dirty="0">
                <a:solidFill>
                  <a:srgbClr val="121212"/>
                </a:solidFill>
                <a:latin typeface="Arial MT"/>
                <a:cs typeface="Arial MT"/>
              </a:rPr>
              <a:t>W</a:t>
            </a:r>
            <a:r>
              <a:rPr sz="1400" spc="-80" dirty="0">
                <a:solidFill>
                  <a:srgbClr val="12121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O</a:t>
            </a:r>
            <a:r>
              <a:rPr sz="140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E0E0E"/>
                </a:solidFill>
                <a:latin typeface="Arial MT"/>
                <a:cs typeface="Arial MT"/>
              </a:rPr>
              <a:t>R</a:t>
            </a:r>
            <a:r>
              <a:rPr sz="1400" spc="-14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1212"/>
                </a:solidFill>
                <a:latin typeface="Arial MT"/>
                <a:cs typeface="Arial MT"/>
              </a:rPr>
              <a:t>L</a:t>
            </a:r>
            <a:r>
              <a:rPr sz="1400" spc="-30" dirty="0">
                <a:solidFill>
                  <a:srgbClr val="121212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111111"/>
                </a:solidFill>
                <a:latin typeface="Arial MT"/>
                <a:cs typeface="Arial MT"/>
              </a:rPr>
              <a:t>D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1400" dirty="0">
                <a:latin typeface="Arial MT"/>
                <a:cs typeface="Arial MT"/>
              </a:rPr>
              <a:t>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F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dirty="0">
                <a:solidFill>
                  <a:srgbClr val="121212"/>
                </a:solidFill>
                <a:latin typeface="Arial MT"/>
                <a:cs typeface="Arial MT"/>
              </a:rPr>
              <a:t>E</a:t>
            </a:r>
            <a:r>
              <a:rPr sz="1400" spc="-160" dirty="0">
                <a:solidFill>
                  <a:srgbClr val="12121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1212"/>
                </a:solidFill>
                <a:latin typeface="Arial MT"/>
                <a:cs typeface="Arial MT"/>
              </a:rPr>
              <a:t>D</a:t>
            </a:r>
            <a:r>
              <a:rPr sz="1400" spc="-90" dirty="0">
                <a:solidFill>
                  <a:srgbClr val="121212"/>
                </a:solidFill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</a:t>
            </a:r>
            <a:r>
              <a:rPr sz="1400" spc="-1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7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E0E0E"/>
                </a:solidFill>
                <a:latin typeface="Arial MT"/>
                <a:cs typeface="Arial MT"/>
              </a:rPr>
              <a:t>T</a:t>
            </a:r>
            <a:r>
              <a:rPr sz="1400" spc="-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11111"/>
                </a:solidFill>
                <a:latin typeface="Arial MT"/>
                <a:cs typeface="Arial MT"/>
              </a:rPr>
              <a:t>I</a:t>
            </a:r>
            <a:r>
              <a:rPr sz="14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111111"/>
                </a:solidFill>
                <a:latin typeface="Arial MT"/>
                <a:cs typeface="Arial MT"/>
              </a:rPr>
              <a:t>N</a:t>
            </a:r>
            <a:endParaRPr sz="1400">
              <a:latin typeface="Arial MT"/>
              <a:cs typeface="Arial MT"/>
            </a:endParaRPr>
          </a:p>
          <a:p>
            <a:pPr marR="22225" algn="ctr">
              <a:lnSpc>
                <a:spcPct val="100000"/>
              </a:lnSpc>
              <a:spcBef>
                <a:spcPts val="200"/>
              </a:spcBef>
            </a:pPr>
            <a:r>
              <a:rPr sz="1250" spc="-135" dirty="0">
                <a:solidFill>
                  <a:srgbClr val="090909"/>
                </a:solidFill>
                <a:latin typeface="Arial MT"/>
                <a:cs typeface="Arial MT"/>
              </a:rPr>
              <a:t>Recognised</a:t>
            </a:r>
            <a:r>
              <a:rPr sz="1250" spc="35" dirty="0">
                <a:solidFill>
                  <a:srgbClr val="090909"/>
                </a:solidFill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under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the</a:t>
            </a:r>
            <a:r>
              <a:rPr sz="1250" spc="-45" dirty="0">
                <a:latin typeface="Arial MT"/>
                <a:cs typeface="Arial MT"/>
              </a:rPr>
              <a:t> </a:t>
            </a:r>
            <a:r>
              <a:rPr sz="1250" spc="-60" dirty="0">
                <a:solidFill>
                  <a:srgbClr val="121212"/>
                </a:solidFill>
                <a:latin typeface="Arial MT"/>
                <a:cs typeface="Arial MT"/>
              </a:rPr>
              <a:t>senion</a:t>
            </a:r>
            <a:r>
              <a:rPr sz="1250" spc="-10" dirty="0">
                <a:solidFill>
                  <a:srgbClr val="121212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C1C1C"/>
                </a:solidFill>
                <a:latin typeface="Arial MT"/>
                <a:cs typeface="Arial MT"/>
              </a:rPr>
              <a:t>2</a:t>
            </a:r>
            <a:r>
              <a:rPr sz="1250" spc="-1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0C0C0C"/>
                </a:solidFill>
                <a:latin typeface="Arial MT"/>
                <a:cs typeface="Arial MT"/>
              </a:rPr>
              <a:t>(g</a:t>
            </a:r>
            <a:r>
              <a:rPr sz="1250" spc="-7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of</a:t>
            </a:r>
            <a:r>
              <a:rPr sz="1250" spc="-45" dirty="0">
                <a:latin typeface="Arial MT"/>
                <a:cs typeface="Arial MT"/>
              </a:rPr>
              <a:t> </a:t>
            </a:r>
            <a:r>
              <a:rPr sz="1250" spc="-55" dirty="0">
                <a:solidFill>
                  <a:srgbClr val="121212"/>
                </a:solidFill>
                <a:latin typeface="Arial MT"/>
                <a:cs typeface="Arial MT"/>
              </a:rPr>
              <a:t>the</a:t>
            </a:r>
            <a:r>
              <a:rPr sz="1250" spc="-75" dirty="0">
                <a:solidFill>
                  <a:srgbClr val="121212"/>
                </a:solidFill>
                <a:latin typeface="Arial MT"/>
                <a:cs typeface="Arial MT"/>
              </a:rPr>
              <a:t> </a:t>
            </a:r>
            <a:r>
              <a:rPr sz="1250" spc="-155" dirty="0">
                <a:solidFill>
                  <a:srgbClr val="0E0E0E"/>
                </a:solidFill>
                <a:latin typeface="Arial MT"/>
                <a:cs typeface="Arial MT"/>
              </a:rPr>
              <a:t>UGC</a:t>
            </a:r>
            <a:r>
              <a:rPr sz="1250" spc="-204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250" spc="-70" dirty="0">
                <a:solidFill>
                  <a:srgbClr val="0D0D0D"/>
                </a:solidFill>
                <a:latin typeface="Arial MT"/>
                <a:cs typeface="Arial MT"/>
              </a:rPr>
              <a:t>Act</a:t>
            </a:r>
            <a:r>
              <a:rPr sz="1250" spc="-1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1956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5326" y="6270625"/>
            <a:ext cx="397192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i="1" dirty="0">
                <a:latin typeface="Arial"/>
                <a:cs typeface="Arial"/>
              </a:rPr>
              <a:t>)</a:t>
            </a:r>
            <a:r>
              <a:rPr sz="2000" i="1" spc="-1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135" dirty="0"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90909"/>
                </a:solidFill>
                <a:latin typeface="Arial"/>
                <a:cs typeface="Arial"/>
              </a:rPr>
              <a:t>Youth;</a:t>
            </a:r>
            <a:r>
              <a:rPr sz="2000" i="1" spc="-65" dirty="0">
                <a:solidFill>
                  <a:srgbClr val="090909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Empowering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14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Nation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2300" y="654050"/>
            <a:ext cx="9448800" cy="7100570"/>
            <a:chOff x="609600" y="228422"/>
            <a:chExt cx="9448800" cy="7100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228422"/>
              <a:ext cx="9448800" cy="71005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86050" y="2576209"/>
              <a:ext cx="6619874" cy="165589"/>
            </a:xfrm>
            <a:custGeom>
              <a:avLst/>
              <a:gdLst/>
              <a:ahLst/>
              <a:cxnLst/>
              <a:rect l="l" t="t" r="r" b="b"/>
              <a:pathLst>
                <a:path w="6534150">
                  <a:moveTo>
                    <a:pt x="0" y="0"/>
                  </a:moveTo>
                  <a:lnTo>
                    <a:pt x="6533769" y="0"/>
                  </a:lnTo>
                </a:path>
              </a:pathLst>
            </a:custGeom>
            <a:ln w="9862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8825" y="380669"/>
              <a:ext cx="6619875" cy="9518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933571" y="3285101"/>
            <a:ext cx="4826257" cy="77655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029335" marR="5080" indent="-1017269" algn="ctr">
              <a:lnSpc>
                <a:spcPct val="102099"/>
              </a:lnSpc>
              <a:spcBef>
                <a:spcPts val="60"/>
              </a:spcBef>
            </a:pPr>
            <a:r>
              <a:rPr lang="en-US" sz="2450" b="1" spc="-25" dirty="0">
                <a:solidFill>
                  <a:srgbClr val="006FC0"/>
                </a:solidFill>
                <a:latin typeface="Calibri"/>
                <a:cs typeface="Calibri"/>
              </a:rPr>
              <a:t>Pre Final Year</a:t>
            </a:r>
            <a:r>
              <a:rPr sz="245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45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6FC0"/>
                </a:solidFill>
                <a:latin typeface="Calibri"/>
                <a:cs typeface="Calibri"/>
              </a:rPr>
              <a:t>Synopsis</a:t>
            </a:r>
            <a:endParaRPr lang="en-US" sz="2450" b="1" spc="-10" dirty="0">
              <a:solidFill>
                <a:srgbClr val="006FC0"/>
              </a:solidFill>
              <a:latin typeface="Calibri"/>
              <a:cs typeface="Calibri"/>
            </a:endParaRPr>
          </a:p>
          <a:p>
            <a:pPr marL="1029335" marR="5080" indent="-1017269" algn="ctr">
              <a:lnSpc>
                <a:spcPct val="102099"/>
              </a:lnSpc>
              <a:spcBef>
                <a:spcPts val="60"/>
              </a:spcBef>
            </a:pPr>
            <a:r>
              <a:rPr sz="2450" b="1" dirty="0">
                <a:solidFill>
                  <a:srgbClr val="006FC0"/>
                </a:solidFill>
                <a:latin typeface="Calibri"/>
                <a:cs typeface="Calibri"/>
              </a:rPr>
              <a:t>Submitted</a:t>
            </a:r>
            <a:r>
              <a:rPr sz="245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50" b="1" spc="-25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endParaRPr sz="245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04028"/>
              </p:ext>
            </p:extLst>
          </p:nvPr>
        </p:nvGraphicFramePr>
        <p:xfrm>
          <a:off x="2352040" y="4179334"/>
          <a:ext cx="6309360" cy="1914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50" spc="-10" dirty="0">
                          <a:latin typeface="Calibri"/>
                          <a:cs typeface="Calibri"/>
                        </a:rPr>
                        <a:t>2301010047</a:t>
                      </a:r>
                      <a:endParaRPr sz="185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50" dirty="0">
                          <a:latin typeface="Calibri"/>
                          <a:cs typeface="Calibri"/>
                        </a:rPr>
                        <a:t>Ankit</a:t>
                      </a:r>
                      <a:r>
                        <a:rPr sz="185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50" spc="-20" dirty="0">
                          <a:latin typeface="Calibri"/>
                          <a:cs typeface="Calibri"/>
                        </a:rPr>
                        <a:t>Patel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50" spc="-10" dirty="0">
                          <a:latin typeface="Calibri"/>
                          <a:cs typeface="Calibri"/>
                        </a:rPr>
                        <a:t>2301010030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50" dirty="0">
                          <a:latin typeface="Calibri"/>
                          <a:cs typeface="Calibri"/>
                        </a:rPr>
                        <a:t>Shami</a:t>
                      </a:r>
                      <a:r>
                        <a:rPr sz="18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50" spc="-10" dirty="0">
                          <a:latin typeface="Calibri"/>
                          <a:cs typeface="Calibri"/>
                        </a:rPr>
                        <a:t>Ahmad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50" spc="-10" dirty="0">
                          <a:latin typeface="Calibri"/>
                          <a:cs typeface="Calibri"/>
                        </a:rPr>
                        <a:t>2301010027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50" spc="-10" dirty="0">
                          <a:latin typeface="Calibri"/>
                          <a:cs typeface="Calibri"/>
                        </a:rPr>
                        <a:t>Aaditya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50" spc="-10" dirty="0">
                          <a:latin typeface="Calibri"/>
                          <a:cs typeface="Calibri"/>
                        </a:rPr>
                        <a:t>2301010039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50" spc="-10" dirty="0">
                          <a:latin typeface="Calibri"/>
                          <a:cs typeface="Calibri"/>
                        </a:rPr>
                        <a:t>Akshat</a:t>
                      </a:r>
                      <a:r>
                        <a:rPr sz="185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50" dirty="0">
                          <a:latin typeface="Calibri"/>
                          <a:cs typeface="Calibri"/>
                        </a:rPr>
                        <a:t>Kumar</a:t>
                      </a:r>
                      <a:r>
                        <a:rPr sz="18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50" spc="-20" dirty="0">
                          <a:latin typeface="Calibri"/>
                          <a:cs typeface="Calibri"/>
                        </a:rPr>
                        <a:t>Singh</a:t>
                      </a:r>
                      <a:endParaRPr sz="185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55700" y="1948788"/>
            <a:ext cx="9135035" cy="1000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3200" dirty="0">
                <a:latin typeface="Calibri"/>
                <a:cs typeface="Calibri"/>
              </a:rPr>
              <a:t>Secure Web based </a:t>
            </a:r>
            <a:r>
              <a:rPr sz="3200" dirty="0">
                <a:latin typeface="Calibri"/>
                <a:cs typeface="Calibri"/>
              </a:rPr>
              <a:t>Voting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lang="en-US" sz="3200" spc="-10" dirty="0">
                <a:latin typeface="Calibri"/>
                <a:cs typeface="Calibri"/>
              </a:rPr>
              <a:t> using face authentication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260" y="6184265"/>
            <a:ext cx="3399790" cy="5802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200"/>
              </a:lnSpc>
              <a:spcBef>
                <a:spcPts val="125"/>
              </a:spcBef>
            </a:pPr>
            <a:endParaRPr sz="1850" dirty="0">
              <a:latin typeface="Calibri"/>
              <a:cs typeface="Calibri"/>
            </a:endParaRPr>
          </a:p>
          <a:p>
            <a:pPr marL="12700">
              <a:lnSpc>
                <a:spcPts val="2200"/>
              </a:lnSpc>
            </a:pPr>
            <a:r>
              <a:rPr sz="1850" b="1" dirty="0">
                <a:solidFill>
                  <a:srgbClr val="006FC0"/>
                </a:solidFill>
                <a:latin typeface="Calibri"/>
                <a:cs typeface="Calibri"/>
              </a:rPr>
              <a:t>Faculty</a:t>
            </a:r>
            <a:r>
              <a:rPr sz="185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50" b="1" spc="-10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50" b="1" spc="-45" dirty="0">
                <a:solidFill>
                  <a:srgbClr val="006FC0"/>
                </a:solidFill>
                <a:latin typeface="Calibri"/>
                <a:cs typeface="Calibri"/>
              </a:rPr>
              <a:t> Dr.</a:t>
            </a:r>
            <a:r>
              <a:rPr sz="185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lang="en-US" b="1" spc="-85" dirty="0">
                <a:solidFill>
                  <a:srgbClr val="006FC0"/>
                </a:solidFill>
                <a:latin typeface="Calibri"/>
                <a:cs typeface="Calibri"/>
              </a:rPr>
              <a:t>Shweta Bansal</a:t>
            </a:r>
            <a:r>
              <a:rPr lang="en-US" sz="2000" dirty="0">
                <a:effectLst/>
              </a:rPr>
              <a:t> </a:t>
            </a:r>
            <a:endParaRPr sz="18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28434"/>
            <a:ext cx="9467850" cy="1332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973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1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4" name="object 4"/>
          <p:cNvSpPr/>
          <p:nvPr/>
        </p:nvSpPr>
        <p:spPr>
          <a:xfrm>
            <a:off x="614362" y="1327785"/>
            <a:ext cx="9468485" cy="0"/>
          </a:xfrm>
          <a:custGeom>
            <a:avLst/>
            <a:gdLst/>
            <a:ahLst/>
            <a:cxnLst/>
            <a:rect l="l" t="t" r="r" b="b"/>
            <a:pathLst>
              <a:path w="9468485">
                <a:moveTo>
                  <a:pt x="0" y="0"/>
                </a:moveTo>
                <a:lnTo>
                  <a:pt x="9467913" y="0"/>
                </a:lnTo>
              </a:path>
            </a:pathLst>
          </a:custGeom>
          <a:ln w="26300">
            <a:solidFill>
              <a:srgbClr val="005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6757911"/>
            <a:ext cx="2495550" cy="3616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42351" y="1644650"/>
            <a:ext cx="7980045" cy="38145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z="2900" b="1" dirty="0">
                <a:latin typeface="Calibri"/>
                <a:cs typeface="Calibri"/>
              </a:rPr>
              <a:t>Brief</a:t>
            </a:r>
            <a:r>
              <a:rPr sz="2900" b="1" spc="-7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Overview</a:t>
            </a:r>
            <a:r>
              <a:rPr sz="2900" b="1" spc="-9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of</a:t>
            </a:r>
            <a:r>
              <a:rPr sz="2900" b="1" spc="-114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the</a:t>
            </a:r>
            <a:r>
              <a:rPr sz="2900" b="1" spc="-90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Topic:</a:t>
            </a:r>
            <a:endParaRPr sz="2900" dirty="0">
              <a:latin typeface="Calibri"/>
              <a:cs typeface="Calibri"/>
            </a:endParaRPr>
          </a:p>
          <a:p>
            <a:pPr marL="367665" indent="-354965">
              <a:lnSpc>
                <a:spcPct val="100000"/>
              </a:lnSpc>
              <a:spcBef>
                <a:spcPts val="3125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sz="2400" dirty="0"/>
              <a:t>The Secure Web-Based Voting System allows voters to cast their votes online in a secure manner.</a:t>
            </a:r>
            <a:endParaRPr sz="2400" dirty="0">
              <a:latin typeface="Calibri"/>
              <a:cs typeface="Calibri"/>
            </a:endParaRPr>
          </a:p>
          <a:p>
            <a:pPr marL="367665" indent="-3549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lang="en-US" sz="2400" dirty="0"/>
              <a:t>The system uses </a:t>
            </a:r>
            <a:r>
              <a:rPr lang="en-US" sz="2400" b="1" dirty="0"/>
              <a:t>face authentication</a:t>
            </a:r>
            <a:r>
              <a:rPr lang="en-US" sz="2400" dirty="0"/>
              <a:t> to verify the identity of voters.</a:t>
            </a:r>
            <a:endParaRPr sz="2400" dirty="0">
              <a:latin typeface="Calibri"/>
              <a:cs typeface="Calibri"/>
            </a:endParaRPr>
          </a:p>
          <a:p>
            <a:pPr marL="367665" indent="-354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sz="2400" dirty="0"/>
              <a:t>It ensures transparency, security, and accessibility for voters, especially NRIs.</a:t>
            </a:r>
          </a:p>
          <a:p>
            <a:pPr marL="367665" indent="-3549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sz="2400" dirty="0"/>
              <a:t>it eliminates the need for physical polling stations and reduces manual effort.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25"/>
              </a:spcBef>
            </a:pPr>
            <a:r>
              <a:rPr sz="4550" b="0" dirty="0">
                <a:latin typeface="Calibri"/>
                <a:cs typeface="Calibri"/>
              </a:rPr>
              <a:t>About</a:t>
            </a:r>
            <a:r>
              <a:rPr sz="4550" b="0" spc="-50" dirty="0">
                <a:latin typeface="Calibri"/>
                <a:cs typeface="Calibri"/>
              </a:rPr>
              <a:t> </a:t>
            </a:r>
            <a:r>
              <a:rPr sz="4550" b="0" dirty="0">
                <a:latin typeface="Calibri"/>
                <a:cs typeface="Calibri"/>
              </a:rPr>
              <a:t>the</a:t>
            </a:r>
            <a:r>
              <a:rPr sz="4550" b="0" spc="-70" dirty="0">
                <a:latin typeface="Calibri"/>
                <a:cs typeface="Calibri"/>
              </a:rPr>
              <a:t> </a:t>
            </a:r>
            <a:r>
              <a:rPr sz="4550" b="0" spc="-10" dirty="0">
                <a:latin typeface="Calibri"/>
                <a:cs typeface="Calibri"/>
              </a:rPr>
              <a:t>Problem</a:t>
            </a:r>
            <a:endParaRPr sz="45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4362" y="1314634"/>
            <a:ext cx="9468485" cy="5805170"/>
            <a:chOff x="614362" y="1314634"/>
            <a:chExt cx="9468485" cy="580517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08100" y="1574570"/>
            <a:ext cx="8277859" cy="44073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85775" indent="-47307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485775" algn="l"/>
              </a:tabLst>
            </a:pPr>
            <a:r>
              <a:rPr sz="3300" b="1" spc="-10" dirty="0">
                <a:latin typeface="Calibri"/>
                <a:cs typeface="Calibri"/>
              </a:rPr>
              <a:t>Problems</a:t>
            </a:r>
            <a:r>
              <a:rPr sz="3300" b="1" spc="-130" dirty="0">
                <a:latin typeface="Calibri"/>
                <a:cs typeface="Calibri"/>
              </a:rPr>
              <a:t> </a:t>
            </a:r>
            <a:r>
              <a:rPr sz="3300" b="1" spc="-10" dirty="0">
                <a:latin typeface="Calibri"/>
                <a:cs typeface="Calibri"/>
              </a:rPr>
              <a:t>Identified</a:t>
            </a:r>
            <a:endParaRPr sz="3300" dirty="0">
              <a:latin typeface="Calibri"/>
              <a:cs typeface="Calibri"/>
            </a:endParaRPr>
          </a:p>
          <a:p>
            <a:pPr marL="367665" marR="348615" indent="-355600">
              <a:lnSpc>
                <a:spcPct val="102099"/>
              </a:lnSpc>
              <a:spcBef>
                <a:spcPts val="130"/>
              </a:spcBef>
              <a:buFont typeface="Arial MT"/>
              <a:buChar char="•"/>
              <a:tabLst>
                <a:tab pos="367665" algn="l"/>
              </a:tabLst>
            </a:pPr>
            <a:r>
              <a:rPr sz="2450" b="1" dirty="0">
                <a:latin typeface="Calibri"/>
                <a:cs typeface="Calibri"/>
              </a:rPr>
              <a:t>Inaccessibility:</a:t>
            </a:r>
            <a:r>
              <a:rPr sz="2450" b="1" spc="-55" dirty="0">
                <a:latin typeface="Calibri"/>
                <a:cs typeface="Calibri"/>
              </a:rPr>
              <a:t> </a:t>
            </a:r>
            <a:r>
              <a:rPr lang="en-US" sz="2400" dirty="0"/>
              <a:t>NRIs and remote voters cannot reach polling stations.</a:t>
            </a:r>
          </a:p>
          <a:p>
            <a:pPr marL="367665" marR="348615" indent="-355600">
              <a:lnSpc>
                <a:spcPct val="102099"/>
              </a:lnSpc>
              <a:spcBef>
                <a:spcPts val="130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sz="2400" b="1" dirty="0"/>
              <a:t>Security Issues:</a:t>
            </a:r>
            <a:r>
              <a:rPr lang="en-US" sz="2400" dirty="0"/>
              <a:t> Traditional systems are prone to impersonation and duplicate voting.</a:t>
            </a:r>
          </a:p>
          <a:p>
            <a:pPr marL="367665" marR="348615" indent="-355600">
              <a:lnSpc>
                <a:spcPct val="102099"/>
              </a:lnSpc>
              <a:spcBef>
                <a:spcPts val="130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sz="2400" b="1" dirty="0"/>
              <a:t>High Cost:</a:t>
            </a:r>
            <a:r>
              <a:rPr lang="en-US" sz="2400" dirty="0"/>
              <a:t> Physical elections require manpower, logistics, and paper ballots.</a:t>
            </a:r>
            <a:endParaRPr sz="2400" dirty="0">
              <a:latin typeface="Calibri"/>
              <a:cs typeface="Calibri"/>
            </a:endParaRPr>
          </a:p>
          <a:p>
            <a:pPr marL="367665" marR="192405" indent="-355600">
              <a:lnSpc>
                <a:spcPts val="3000"/>
              </a:lnSpc>
              <a:spcBef>
                <a:spcPts val="110"/>
              </a:spcBef>
              <a:buFont typeface="Arial MT"/>
              <a:buChar char="•"/>
              <a:tabLst>
                <a:tab pos="367665" algn="l"/>
              </a:tabLst>
            </a:pPr>
            <a:r>
              <a:rPr lang="en-US" sz="2400" b="1" dirty="0"/>
              <a:t>Low Voter Turnout:</a:t>
            </a:r>
            <a:r>
              <a:rPr lang="en-US" sz="2400" dirty="0"/>
              <a:t> Travel constraints and long queues discourage voting.</a:t>
            </a:r>
          </a:p>
          <a:p>
            <a:pPr marL="367665" marR="192405" indent="-355600">
              <a:lnSpc>
                <a:spcPts val="3000"/>
              </a:lnSpc>
              <a:spcBef>
                <a:spcPts val="110"/>
              </a:spcBef>
              <a:buFont typeface="Arial MT"/>
              <a:buChar char="•"/>
              <a:tabLst>
                <a:tab pos="367665" algn="l"/>
              </a:tabLst>
            </a:pPr>
            <a:r>
              <a:rPr sz="2450" b="1" dirty="0">
                <a:latin typeface="Calibri"/>
                <a:cs typeface="Calibri"/>
              </a:rPr>
              <a:t>Slow</a:t>
            </a:r>
            <a:r>
              <a:rPr sz="2450" b="1" spc="-25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Vote</a:t>
            </a:r>
            <a:r>
              <a:rPr sz="2450" b="1" spc="-4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Counting</a:t>
            </a:r>
            <a:r>
              <a:rPr sz="2450" b="1" spc="-20" dirty="0">
                <a:latin typeface="Calibri"/>
                <a:cs typeface="Calibri"/>
              </a:rPr>
              <a:t> </a:t>
            </a:r>
            <a:r>
              <a:rPr sz="2450" b="1" dirty="0">
                <a:latin typeface="Calibri"/>
                <a:cs typeface="Calibri"/>
              </a:rPr>
              <a:t>Process:</a:t>
            </a:r>
            <a:r>
              <a:rPr sz="2450" b="1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Manual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tallying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of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votes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leads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to</a:t>
            </a:r>
            <a:r>
              <a:rPr lang="en-US"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delays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announcing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election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results.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28434"/>
            <a:ext cx="9467850" cy="1332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973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614362" y="1327785"/>
            <a:ext cx="9468485" cy="0"/>
          </a:xfrm>
          <a:custGeom>
            <a:avLst/>
            <a:gdLst/>
            <a:ahLst/>
            <a:cxnLst/>
            <a:rect l="l" t="t" r="r" b="b"/>
            <a:pathLst>
              <a:path w="9468485">
                <a:moveTo>
                  <a:pt x="0" y="0"/>
                </a:moveTo>
                <a:lnTo>
                  <a:pt x="9467913" y="0"/>
                </a:lnTo>
              </a:path>
            </a:pathLst>
          </a:custGeom>
          <a:ln w="26300">
            <a:solidFill>
              <a:srgbClr val="005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6757911"/>
            <a:ext cx="2495550" cy="3616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76374" y="1512105"/>
            <a:ext cx="7604126" cy="46628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3300" b="1" dirty="0">
                <a:latin typeface="Calibri"/>
                <a:cs typeface="Calibri"/>
              </a:rPr>
              <a:t>Clearly</a:t>
            </a:r>
            <a:r>
              <a:rPr sz="3300" b="1" spc="-125" dirty="0"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Define</a:t>
            </a:r>
            <a:r>
              <a:rPr sz="3300" b="1" spc="-55" dirty="0"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the</a:t>
            </a:r>
            <a:r>
              <a:rPr sz="3300" b="1" spc="-85" dirty="0">
                <a:latin typeface="Calibri"/>
                <a:cs typeface="Calibri"/>
              </a:rPr>
              <a:t> </a:t>
            </a:r>
            <a:r>
              <a:rPr sz="3300" b="1" spc="-10" dirty="0">
                <a:latin typeface="Calibri"/>
                <a:cs typeface="Calibri"/>
              </a:rPr>
              <a:t>Problem</a:t>
            </a:r>
            <a:endParaRPr sz="3300" dirty="0">
              <a:latin typeface="Calibri"/>
              <a:cs typeface="Calibri"/>
            </a:endParaRPr>
          </a:p>
          <a:p>
            <a:r>
              <a:rPr lang="en-US" sz="2000" dirty="0"/>
              <a:t>Traditional voting systems require physical presence and lack strong authentication mechanisms, making them inaccessible for NRIs and vulnerable to fraud such as impersonation and duplicate voting.</a:t>
            </a:r>
          </a:p>
          <a:p>
            <a:pPr marL="12700">
              <a:lnSpc>
                <a:spcPts val="3765"/>
              </a:lnSpc>
            </a:pPr>
            <a:r>
              <a:rPr sz="3300" b="1" dirty="0">
                <a:latin typeface="Calibri"/>
                <a:cs typeface="Calibri"/>
              </a:rPr>
              <a:t>Why</a:t>
            </a:r>
            <a:r>
              <a:rPr sz="3300" b="1" spc="-55" dirty="0"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is</a:t>
            </a:r>
            <a:r>
              <a:rPr sz="3300" b="1" spc="-30" dirty="0"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it</a:t>
            </a:r>
            <a:r>
              <a:rPr sz="3300" b="1" spc="-20" dirty="0">
                <a:latin typeface="Calibri"/>
                <a:cs typeface="Calibri"/>
              </a:rPr>
              <a:t> </a:t>
            </a:r>
            <a:r>
              <a:rPr sz="3300" b="1" spc="-10" dirty="0">
                <a:latin typeface="Calibri"/>
                <a:cs typeface="Calibri"/>
              </a:rPr>
              <a:t>Important?</a:t>
            </a:r>
            <a:endParaRPr sz="3300" dirty="0">
              <a:latin typeface="Calibri"/>
              <a:cs typeface="Calibri"/>
            </a:endParaRPr>
          </a:p>
          <a:p>
            <a:pPr marL="12700" marR="5080">
              <a:lnSpc>
                <a:spcPct val="99800"/>
              </a:lnSpc>
              <a:spcBef>
                <a:spcPts val="245"/>
              </a:spcBef>
            </a:pPr>
            <a:r>
              <a:rPr lang="en-US" sz="2100" dirty="0"/>
              <a:t>Enables remote and secure voting.</a:t>
            </a:r>
          </a:p>
          <a:p>
            <a:pPr marL="12700">
              <a:lnSpc>
                <a:spcPts val="2500"/>
              </a:lnSpc>
              <a:spcBef>
                <a:spcPts val="105"/>
              </a:spcBef>
            </a:pPr>
            <a:r>
              <a:rPr lang="en-US" sz="2100" dirty="0"/>
              <a:t>Prevents fraudulent voting using biometric authentication</a:t>
            </a:r>
            <a:r>
              <a:rPr lang="en-US" sz="2400" dirty="0"/>
              <a:t>.</a:t>
            </a:r>
          </a:p>
          <a:p>
            <a:pPr marL="12700">
              <a:lnSpc>
                <a:spcPts val="2500"/>
              </a:lnSpc>
              <a:spcBef>
                <a:spcPts val="105"/>
              </a:spcBef>
            </a:pPr>
            <a:r>
              <a:rPr lang="en-US" sz="2100" dirty="0"/>
              <a:t>Improves participation and trust in the electoral process</a:t>
            </a:r>
            <a:r>
              <a:rPr lang="en-US" sz="2400" dirty="0"/>
              <a:t>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855"/>
              </a:lnSpc>
            </a:pPr>
            <a:r>
              <a:rPr sz="2450" b="1" dirty="0">
                <a:latin typeface="Calibri"/>
                <a:cs typeface="Calibri"/>
              </a:rPr>
              <a:t>Expected</a:t>
            </a:r>
            <a:r>
              <a:rPr sz="2450" b="1" spc="-4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Impact</a:t>
            </a:r>
            <a:endParaRPr sz="2450" dirty="0">
              <a:latin typeface="Calibri"/>
              <a:cs typeface="Calibri"/>
            </a:endParaRPr>
          </a:p>
          <a:p>
            <a:pPr marL="12700" marR="2507615">
              <a:lnSpc>
                <a:spcPts val="2480"/>
              </a:lnSpc>
              <a:spcBef>
                <a:spcPts val="380"/>
              </a:spcBef>
            </a:pPr>
            <a:r>
              <a:rPr sz="2100" spc="-10" dirty="0">
                <a:latin typeface="Calibri"/>
                <a:cs typeface="Calibri"/>
              </a:rPr>
              <a:t>Higher</a:t>
            </a:r>
            <a:r>
              <a:rPr sz="2100" spc="-11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voter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turnout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due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ease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114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access. Secure</a:t>
            </a:r>
            <a:r>
              <a:rPr sz="2100" spc="-10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tamper-</a:t>
            </a:r>
            <a:r>
              <a:rPr sz="2100" spc="-25" dirty="0">
                <a:latin typeface="Calibri"/>
                <a:cs typeface="Calibri"/>
              </a:rPr>
              <a:t>proof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voting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process.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320"/>
              </a:lnSpc>
            </a:pPr>
            <a:r>
              <a:rPr sz="2100" spc="-25" dirty="0">
                <a:latin typeface="Calibri"/>
                <a:cs typeface="Calibri"/>
              </a:rPr>
              <a:t>Faster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more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accurate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election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results.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973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14634"/>
            <a:ext cx="9468485" cy="5805170"/>
            <a:chOff x="614362" y="1314634"/>
            <a:chExt cx="9468485" cy="580517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0632" y="1375727"/>
            <a:ext cx="7569200" cy="49452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46100" marR="323850" indent="-534035">
              <a:lnSpc>
                <a:spcPct val="101400"/>
              </a:lnSpc>
              <a:spcBef>
                <a:spcPts val="75"/>
              </a:spcBef>
              <a:buAutoNum type="arabicPeriod"/>
              <a:tabLst>
                <a:tab pos="546100" algn="l"/>
              </a:tabLst>
            </a:pPr>
            <a:r>
              <a:rPr sz="2900" dirty="0">
                <a:latin typeface="Calibri"/>
                <a:cs typeface="Calibri"/>
              </a:rPr>
              <a:t>Develop</a:t>
            </a:r>
            <a:r>
              <a:rPr sz="2900" spc="-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secure</a:t>
            </a:r>
            <a:r>
              <a:rPr sz="2900" spc="-1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55" dirty="0">
                <a:latin typeface="Calibri"/>
                <a:cs typeface="Calibri"/>
              </a:rPr>
              <a:t>user-</a:t>
            </a:r>
            <a:r>
              <a:rPr sz="2900" dirty="0">
                <a:latin typeface="Calibri"/>
                <a:cs typeface="Calibri"/>
              </a:rPr>
              <a:t>friendly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lang="en-US" sz="2900" spc="-85" dirty="0">
                <a:latin typeface="Calibri"/>
                <a:cs typeface="Calibri"/>
              </a:rPr>
              <a:t>Secure </a:t>
            </a:r>
            <a:r>
              <a:rPr sz="2900" dirty="0">
                <a:latin typeface="Calibri"/>
                <a:cs typeface="Calibri"/>
              </a:rPr>
              <a:t>voting</a:t>
            </a:r>
            <a:r>
              <a:rPr sz="2900" spc="-12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system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accessible</a:t>
            </a:r>
            <a:r>
              <a:rPr sz="2900" spc="-1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all</a:t>
            </a:r>
            <a:r>
              <a:rPr sz="2900" spc="-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eligible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voters.</a:t>
            </a:r>
            <a:endParaRPr sz="2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Calibri"/>
              <a:buAutoNum type="arabicPeriod"/>
            </a:pPr>
            <a:endParaRPr sz="2900" dirty="0">
              <a:latin typeface="Calibri"/>
              <a:cs typeface="Calibri"/>
            </a:endParaRPr>
          </a:p>
          <a:p>
            <a:pPr marL="527050" marR="19685" indent="-514984">
              <a:lnSpc>
                <a:spcPct val="101400"/>
              </a:lnSpc>
              <a:buAutoNum type="arabicPeriod"/>
              <a:tabLst>
                <a:tab pos="527050" algn="l"/>
              </a:tabLst>
            </a:pPr>
            <a:r>
              <a:rPr sz="2900" spc="-10" dirty="0">
                <a:latin typeface="Calibri"/>
                <a:cs typeface="Calibri"/>
              </a:rPr>
              <a:t>Ensure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vote</a:t>
            </a:r>
            <a:r>
              <a:rPr sz="2900" spc="-15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encryption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1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data</a:t>
            </a:r>
            <a:r>
              <a:rPr sz="2900" spc="-14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integrity</a:t>
            </a:r>
            <a:r>
              <a:rPr sz="2900" spc="-13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using </a:t>
            </a:r>
            <a:r>
              <a:rPr sz="2900" dirty="0">
                <a:latin typeface="Calibri"/>
                <a:cs typeface="Calibri"/>
              </a:rPr>
              <a:t>blockchain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or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cryptographic</a:t>
            </a:r>
            <a:r>
              <a:rPr sz="2900" spc="-12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techniques.</a:t>
            </a:r>
            <a:endParaRPr sz="2900" dirty="0">
              <a:latin typeface="Calibri"/>
              <a:cs typeface="Calibri"/>
            </a:endParaRPr>
          </a:p>
          <a:p>
            <a:pPr marL="546100" marR="5080" indent="-534035">
              <a:lnSpc>
                <a:spcPct val="101400"/>
              </a:lnSpc>
              <a:spcBef>
                <a:spcPts val="3450"/>
              </a:spcBef>
              <a:buAutoNum type="arabicPeriod"/>
              <a:tabLst>
                <a:tab pos="546100" algn="l"/>
              </a:tabLst>
            </a:pPr>
            <a:r>
              <a:rPr sz="2900" dirty="0">
                <a:latin typeface="Calibri"/>
                <a:cs typeface="Calibri"/>
              </a:rPr>
              <a:t>Provide</a:t>
            </a:r>
            <a:r>
              <a:rPr sz="2900" spc="-125" dirty="0">
                <a:latin typeface="Calibri"/>
                <a:cs typeface="Calibri"/>
              </a:rPr>
              <a:t> </a:t>
            </a:r>
            <a:r>
              <a:rPr sz="2900" spc="-40" dirty="0">
                <a:latin typeface="Calibri"/>
                <a:cs typeface="Calibri"/>
              </a:rPr>
              <a:t>real-</a:t>
            </a:r>
            <a:r>
              <a:rPr sz="2900" dirty="0">
                <a:latin typeface="Calibri"/>
                <a:cs typeface="Calibri"/>
              </a:rPr>
              <a:t>time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vote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counting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immediate result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generation.</a:t>
            </a:r>
            <a:endParaRPr sz="2900" dirty="0">
              <a:latin typeface="Calibri"/>
              <a:cs typeface="Calibri"/>
            </a:endParaRPr>
          </a:p>
          <a:p>
            <a:pPr marL="546100" marR="1284605" indent="-534035">
              <a:lnSpc>
                <a:spcPct val="101400"/>
              </a:lnSpc>
              <a:spcBef>
                <a:spcPts val="3445"/>
              </a:spcBef>
              <a:buAutoNum type="arabicPeriod"/>
              <a:tabLst>
                <a:tab pos="546100" algn="l"/>
              </a:tabLst>
            </a:pPr>
            <a:r>
              <a:rPr sz="2900" dirty="0">
                <a:latin typeface="Calibri"/>
                <a:cs typeface="Calibri"/>
              </a:rPr>
              <a:t>Minimize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risk</a:t>
            </a:r>
            <a:r>
              <a:rPr sz="2900" spc="-1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election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fraud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and </a:t>
            </a:r>
            <a:r>
              <a:rPr sz="2900" spc="-20" dirty="0">
                <a:latin typeface="Calibri"/>
                <a:cs typeface="Calibri"/>
              </a:rPr>
              <a:t>unauthorized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access.</a:t>
            </a:r>
            <a:endParaRPr sz="2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973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Methodology,</a:t>
            </a:r>
            <a:r>
              <a:rPr spc="-50" dirty="0"/>
              <a:t> </a:t>
            </a:r>
            <a:r>
              <a:rPr dirty="0"/>
              <a:t>Tools,</a:t>
            </a:r>
            <a:r>
              <a:rPr spc="-5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Techniques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238434"/>
            <a:ext cx="9468485" cy="5881370"/>
            <a:chOff x="614362" y="1238434"/>
            <a:chExt cx="9468485" cy="5881370"/>
          </a:xfrm>
        </p:grpSpPr>
        <p:sp>
          <p:nvSpPr>
            <p:cNvPr id="4" name="object 4"/>
            <p:cNvSpPr/>
            <p:nvPr/>
          </p:nvSpPr>
          <p:spPr>
            <a:xfrm>
              <a:off x="614362" y="12515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20749" y="1276476"/>
            <a:ext cx="8033765" cy="5219378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360"/>
              </a:spcBef>
            </a:pPr>
            <a:r>
              <a:rPr sz="2900" b="1" dirty="0">
                <a:latin typeface="Calibri"/>
                <a:cs typeface="Calibri"/>
              </a:rPr>
              <a:t>Approach</a:t>
            </a:r>
            <a:r>
              <a:rPr sz="2900" b="1" spc="-15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taken</a:t>
            </a:r>
            <a:r>
              <a:rPr sz="2900" b="1" spc="-14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to</a:t>
            </a:r>
            <a:r>
              <a:rPr sz="2900" b="1" spc="-8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solve</a:t>
            </a:r>
            <a:r>
              <a:rPr sz="2900" b="1" spc="-9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the</a:t>
            </a:r>
            <a:r>
              <a:rPr sz="2900" b="1" spc="-100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problem</a:t>
            </a:r>
            <a:endParaRPr sz="2900" dirty="0">
              <a:latin typeface="Calibri"/>
              <a:cs typeface="Calibri"/>
            </a:endParaRPr>
          </a:p>
          <a:p>
            <a:pPr marL="368300" indent="-354965">
              <a:lnSpc>
                <a:spcPts val="2500"/>
              </a:lnSpc>
              <a:spcBef>
                <a:spcPts val="17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b="1" dirty="0"/>
              <a:t>User Registration:</a:t>
            </a:r>
            <a:r>
              <a:rPr lang="en-US" sz="2100" dirty="0"/>
              <a:t> Voter registers with Aadhaar details and face data</a:t>
            </a:r>
            <a:r>
              <a:rPr lang="en-US" sz="2400" dirty="0"/>
              <a:t>.</a:t>
            </a:r>
          </a:p>
          <a:p>
            <a:pPr marL="368300" indent="-354965">
              <a:lnSpc>
                <a:spcPts val="2500"/>
              </a:lnSpc>
              <a:spcBef>
                <a:spcPts val="17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b="1" dirty="0"/>
              <a:t>Face Authentication:</a:t>
            </a:r>
            <a:r>
              <a:rPr lang="en-US" sz="2100" dirty="0"/>
              <a:t> Live face verification during voting.</a:t>
            </a:r>
            <a:r>
              <a:rPr sz="2100" spc="-30" dirty="0">
                <a:latin typeface="Calibri"/>
                <a:cs typeface="Calibri"/>
              </a:rPr>
              <a:t> </a:t>
            </a:r>
            <a:endParaRPr lang="en-US" sz="2100" spc="-30" dirty="0">
              <a:latin typeface="Calibri"/>
              <a:cs typeface="Calibri"/>
            </a:endParaRPr>
          </a:p>
          <a:p>
            <a:pPr marL="368300" indent="-354965">
              <a:lnSpc>
                <a:spcPts val="2500"/>
              </a:lnSpc>
              <a:spcBef>
                <a:spcPts val="17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b="1" dirty="0"/>
              <a:t>Voting Process:</a:t>
            </a:r>
            <a:r>
              <a:rPr lang="en-US" sz="2100" dirty="0"/>
              <a:t> Vote allowed only after successful authentication.</a:t>
            </a:r>
          </a:p>
          <a:p>
            <a:pPr marL="368300" indent="-354965">
              <a:lnSpc>
                <a:spcPts val="2500"/>
              </a:lnSpc>
              <a:spcBef>
                <a:spcPts val="17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b="1" dirty="0"/>
              <a:t>Security:</a:t>
            </a:r>
            <a:r>
              <a:rPr lang="en-US" sz="2100" dirty="0"/>
              <a:t> Voting status updated to prevent duplicate voting.</a:t>
            </a:r>
          </a:p>
          <a:p>
            <a:pPr marL="368300" indent="-354965">
              <a:lnSpc>
                <a:spcPts val="2500"/>
              </a:lnSpc>
              <a:spcBef>
                <a:spcPts val="175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b="1" dirty="0"/>
              <a:t>Result Processing:</a:t>
            </a:r>
            <a:r>
              <a:rPr lang="en-US" sz="2100" dirty="0"/>
              <a:t> Automated vote counting.</a:t>
            </a:r>
          </a:p>
          <a:p>
            <a:pPr marL="13335">
              <a:lnSpc>
                <a:spcPts val="2500"/>
              </a:lnSpc>
              <a:spcBef>
                <a:spcPts val="175"/>
              </a:spcBef>
              <a:tabLst>
                <a:tab pos="368300" algn="l"/>
              </a:tabLst>
            </a:pPr>
            <a:endParaRPr lang="en-US" sz="2100" spc="-30" dirty="0">
              <a:latin typeface="Calibri"/>
              <a:cs typeface="Calibri"/>
            </a:endParaRPr>
          </a:p>
          <a:p>
            <a:pPr marL="368300" indent="-354965">
              <a:lnSpc>
                <a:spcPts val="2500"/>
              </a:lnSpc>
              <a:spcBef>
                <a:spcPts val="175"/>
              </a:spcBef>
              <a:buFont typeface="Arial MT"/>
              <a:buChar char="•"/>
              <a:tabLst>
                <a:tab pos="368300" algn="l"/>
              </a:tabLst>
            </a:pPr>
            <a:r>
              <a:rPr sz="2900" b="1" spc="-50" dirty="0">
                <a:latin typeface="Calibri"/>
                <a:cs typeface="Calibri"/>
              </a:rPr>
              <a:t>Tools</a:t>
            </a:r>
            <a:r>
              <a:rPr sz="2900" b="1" spc="-10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&amp;</a:t>
            </a:r>
            <a:r>
              <a:rPr sz="2900" b="1" spc="-50" dirty="0">
                <a:latin typeface="Calibri"/>
                <a:cs typeface="Calibri"/>
              </a:rPr>
              <a:t> </a:t>
            </a:r>
            <a:r>
              <a:rPr sz="2900" b="1" spc="-40" dirty="0">
                <a:latin typeface="Calibri"/>
                <a:cs typeface="Calibri"/>
              </a:rPr>
              <a:t>Technologies</a:t>
            </a:r>
            <a:r>
              <a:rPr sz="2900" b="1" spc="-30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Used:</a:t>
            </a:r>
            <a:endParaRPr sz="2900" dirty="0">
              <a:latin typeface="Calibri"/>
              <a:cs typeface="Calibri"/>
            </a:endParaRPr>
          </a:p>
          <a:p>
            <a:pPr marL="368300" indent="-354965">
              <a:lnSpc>
                <a:spcPts val="2500"/>
              </a:lnSpc>
              <a:spcBef>
                <a:spcPts val="170"/>
              </a:spcBef>
              <a:buFont typeface="Arial MT"/>
              <a:buChar char="•"/>
              <a:tabLst>
                <a:tab pos="368300" algn="l"/>
              </a:tabLst>
            </a:pPr>
            <a:r>
              <a:rPr sz="2100" spc="-30" dirty="0">
                <a:latin typeface="Calibri"/>
                <a:cs typeface="Calibri"/>
              </a:rPr>
              <a:t>Frontend: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lang="en-US" sz="2100" spc="-90" dirty="0" err="1">
                <a:latin typeface="Calibri"/>
                <a:cs typeface="Calibri"/>
              </a:rPr>
              <a:t>HTML,CSS,JavaScript</a:t>
            </a:r>
            <a:endParaRPr lang="en-US" sz="2100" spc="-90" dirty="0">
              <a:latin typeface="Calibri"/>
              <a:cs typeface="Calibri"/>
            </a:endParaRPr>
          </a:p>
          <a:p>
            <a:pPr marL="368300" indent="-354965">
              <a:lnSpc>
                <a:spcPts val="2500"/>
              </a:lnSpc>
              <a:spcBef>
                <a:spcPts val="170"/>
              </a:spcBef>
              <a:buFont typeface="Arial MT"/>
              <a:buChar char="•"/>
              <a:tabLst>
                <a:tab pos="368300" algn="l"/>
              </a:tabLst>
            </a:pPr>
            <a:r>
              <a:rPr sz="2100" spc="-25" dirty="0">
                <a:latin typeface="Calibri"/>
                <a:cs typeface="Calibri"/>
              </a:rPr>
              <a:t>Backend: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lang="en-US" sz="2100" dirty="0"/>
              <a:t>Python, Flask</a:t>
            </a:r>
            <a:endParaRPr sz="2100" dirty="0">
              <a:latin typeface="Calibri"/>
              <a:cs typeface="Calibri"/>
            </a:endParaRPr>
          </a:p>
          <a:p>
            <a:pPr marL="368300" indent="-35496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68300" algn="l"/>
              </a:tabLst>
            </a:pPr>
            <a:r>
              <a:rPr sz="2100" spc="-25" dirty="0">
                <a:latin typeface="Calibri"/>
                <a:cs typeface="Calibri"/>
              </a:rPr>
              <a:t>Database: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SQLite</a:t>
            </a:r>
            <a:r>
              <a:rPr lang="en-US" sz="2100" spc="-10" dirty="0">
                <a:latin typeface="Calibri"/>
                <a:cs typeface="Calibri"/>
              </a:rPr>
              <a:t>/MySQL</a:t>
            </a:r>
            <a:endParaRPr sz="21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dirty="0"/>
              <a:t>Face Recognition: OpenCV</a:t>
            </a:r>
          </a:p>
          <a:p>
            <a:pPr marL="368300" indent="-35560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68300" algn="l"/>
              </a:tabLst>
            </a:pPr>
            <a:r>
              <a:rPr lang="en-US" sz="2100" dirty="0"/>
              <a:t>Visualization: </a:t>
            </a:r>
            <a:r>
              <a:rPr lang="en-US" sz="2100" dirty="0" err="1"/>
              <a:t>Chart.js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50" y="261676"/>
            <a:ext cx="9467850" cy="70910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396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</a:t>
            </a:r>
            <a:r>
              <a:rPr spc="-95" dirty="0"/>
              <a:t> </a:t>
            </a:r>
            <a:r>
              <a:rPr spc="-10" dirty="0"/>
              <a:t>Flowchart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14362" y="1327784"/>
            <a:ext cx="9468485" cy="5791810"/>
            <a:chOff x="614362" y="1327784"/>
            <a:chExt cx="9468485" cy="5791810"/>
          </a:xfrm>
        </p:grpSpPr>
        <p:sp>
          <p:nvSpPr>
            <p:cNvPr id="5" name="object 5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pic>
        <p:nvPicPr>
          <p:cNvPr id="9" name="Picture 8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9F92C0D7-966D-8F77-5DAE-79CAD370EE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0" y="1485582"/>
            <a:ext cx="6781800" cy="52723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373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-114" dirty="0"/>
              <a:t> </a:t>
            </a:r>
            <a:r>
              <a:rPr dirty="0"/>
              <a:t>Results</a:t>
            </a:r>
            <a:r>
              <a:rPr spc="-7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Impact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14634"/>
            <a:ext cx="9468485" cy="5805170"/>
            <a:chOff x="614362" y="1314634"/>
            <a:chExt cx="9468485" cy="580517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49019" y="1373872"/>
            <a:ext cx="7176770" cy="533864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450" b="1" dirty="0">
                <a:latin typeface="Calibri"/>
                <a:cs typeface="Calibri"/>
              </a:rPr>
              <a:t>Expected</a:t>
            </a:r>
            <a:r>
              <a:rPr sz="2450" b="1" spc="-2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Results:</a:t>
            </a:r>
            <a:endParaRPr sz="2450" dirty="0">
              <a:latin typeface="Calibri"/>
              <a:cs typeface="Calibri"/>
            </a:endParaRPr>
          </a:p>
          <a:p>
            <a:pPr marL="367665" indent="-354965">
              <a:lnSpc>
                <a:spcPts val="2500"/>
              </a:lnSpc>
              <a:spcBef>
                <a:spcPts val="260"/>
              </a:spcBef>
              <a:buFont typeface="Arial MT"/>
              <a:buChar char="•"/>
              <a:tabLst>
                <a:tab pos="367665" algn="l"/>
              </a:tabLst>
            </a:pPr>
            <a:r>
              <a:rPr sz="2100" dirty="0">
                <a:latin typeface="Calibri"/>
                <a:cs typeface="Calibri"/>
              </a:rPr>
              <a:t>Fully</a:t>
            </a:r>
            <a:r>
              <a:rPr sz="2100" spc="-12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functional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lang="en-US" sz="2100" spc="-65" dirty="0">
                <a:latin typeface="Calibri"/>
                <a:cs typeface="Calibri"/>
              </a:rPr>
              <a:t>secure web Based </a:t>
            </a:r>
            <a:r>
              <a:rPr sz="2100" spc="-20" dirty="0">
                <a:latin typeface="Calibri"/>
                <a:cs typeface="Calibri"/>
              </a:rPr>
              <a:t>voting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system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high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security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</a:t>
            </a:r>
            <a:r>
              <a:rPr lang="en-US"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reliability.</a:t>
            </a:r>
            <a:endParaRPr sz="2100" dirty="0">
              <a:latin typeface="Calibri"/>
              <a:cs typeface="Calibri"/>
            </a:endParaRPr>
          </a:p>
          <a:p>
            <a:pPr marL="367665" indent="-354965">
              <a:lnSpc>
                <a:spcPts val="2460"/>
              </a:lnSpc>
              <a:buFont typeface="Arial MT"/>
              <a:buChar char="•"/>
              <a:tabLst>
                <a:tab pos="367665" algn="l"/>
              </a:tabLst>
            </a:pPr>
            <a:r>
              <a:rPr sz="2100" spc="-50" dirty="0">
                <a:latin typeface="Calibri"/>
                <a:cs typeface="Calibri"/>
              </a:rPr>
              <a:t>Real-</a:t>
            </a:r>
            <a:r>
              <a:rPr sz="2100" dirty="0">
                <a:latin typeface="Calibri"/>
                <a:cs typeface="Calibri"/>
              </a:rPr>
              <a:t>time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vote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counting</a:t>
            </a:r>
            <a:r>
              <a:rPr sz="2100" spc="-11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instant</a:t>
            </a:r>
            <a:r>
              <a:rPr sz="2100" spc="-11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result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generation.</a:t>
            </a:r>
            <a:endParaRPr sz="2100" dirty="0">
              <a:latin typeface="Calibri"/>
              <a:cs typeface="Calibri"/>
            </a:endParaRPr>
          </a:p>
          <a:p>
            <a:pPr marL="367665" indent="-354965">
              <a:lnSpc>
                <a:spcPts val="2500"/>
              </a:lnSpc>
              <a:spcBef>
                <a:spcPts val="110"/>
              </a:spcBef>
              <a:buFont typeface="Arial MT"/>
              <a:buChar char="•"/>
              <a:tabLst>
                <a:tab pos="367665" algn="l"/>
              </a:tabLst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prototype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system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tested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scalability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</a:t>
            </a:r>
            <a:endParaRPr sz="2100" dirty="0">
              <a:latin typeface="Calibri"/>
              <a:cs typeface="Calibri"/>
            </a:endParaRPr>
          </a:p>
          <a:p>
            <a:pPr marL="367665">
              <a:lnSpc>
                <a:spcPts val="2415"/>
              </a:lnSpc>
            </a:pPr>
            <a:r>
              <a:rPr sz="2100" spc="-10" dirty="0">
                <a:latin typeface="Calibri"/>
                <a:cs typeface="Calibri"/>
              </a:rPr>
              <a:t>usability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855"/>
              </a:lnSpc>
            </a:pPr>
            <a:r>
              <a:rPr sz="2450" b="1" spc="-10" dirty="0">
                <a:latin typeface="Calibri"/>
                <a:cs typeface="Calibri"/>
              </a:rPr>
              <a:t>Impact:</a:t>
            </a:r>
            <a:endParaRPr sz="2450" dirty="0">
              <a:latin typeface="Calibri"/>
              <a:cs typeface="Calibri"/>
            </a:endParaRPr>
          </a:p>
          <a:p>
            <a:pPr marL="367665" indent="-354965">
              <a:lnSpc>
                <a:spcPts val="2500"/>
              </a:lnSpc>
              <a:spcBef>
                <a:spcPts val="110"/>
              </a:spcBef>
              <a:buFont typeface="Arial MT"/>
              <a:buChar char="•"/>
              <a:tabLst>
                <a:tab pos="367665" algn="l"/>
              </a:tabLst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Governments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&amp;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Organizations:</a:t>
            </a:r>
            <a:endParaRPr sz="2100" dirty="0">
              <a:latin typeface="Calibri"/>
              <a:cs typeface="Calibri"/>
            </a:endParaRPr>
          </a:p>
          <a:p>
            <a:pPr marL="485775" indent="-473075">
              <a:lnSpc>
                <a:spcPts val="2500"/>
              </a:lnSpc>
              <a:buAutoNum type="arabicPeriod"/>
              <a:tabLst>
                <a:tab pos="485775" algn="l"/>
              </a:tabLst>
            </a:pPr>
            <a:r>
              <a:rPr sz="2100" spc="-25" dirty="0">
                <a:latin typeface="Calibri"/>
                <a:cs typeface="Calibri"/>
              </a:rPr>
              <a:t>Reduces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cost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time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associated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elections.</a:t>
            </a:r>
            <a:endParaRPr sz="2100" dirty="0">
              <a:latin typeface="Calibri"/>
              <a:cs typeface="Calibri"/>
            </a:endParaRPr>
          </a:p>
          <a:p>
            <a:pPr marL="367665" lvl="1" indent="-35496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67665" algn="l"/>
              </a:tabLst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1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Voters:</a:t>
            </a:r>
            <a:endParaRPr sz="2100" dirty="0">
              <a:latin typeface="Calibri"/>
              <a:cs typeface="Calibri"/>
            </a:endParaRPr>
          </a:p>
          <a:p>
            <a:pPr marL="487045" indent="-474345">
              <a:lnSpc>
                <a:spcPct val="100000"/>
              </a:lnSpc>
              <a:spcBef>
                <a:spcPts val="30"/>
              </a:spcBef>
              <a:buAutoNum type="arabicPeriod" startAt="2"/>
              <a:tabLst>
                <a:tab pos="487045" algn="l"/>
              </a:tabLst>
            </a:pPr>
            <a:r>
              <a:rPr sz="2100" spc="-30" dirty="0">
                <a:latin typeface="Calibri"/>
                <a:cs typeface="Calibri"/>
              </a:rPr>
              <a:t>Provides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55" dirty="0">
                <a:latin typeface="Calibri"/>
                <a:cs typeface="Calibri"/>
              </a:rPr>
              <a:t> easy,</a:t>
            </a:r>
            <a:r>
              <a:rPr sz="2100" spc="-10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accessible,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secure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way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cast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votes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from</a:t>
            </a:r>
            <a:endParaRPr sz="2100" dirty="0">
              <a:latin typeface="Calibri"/>
              <a:cs typeface="Calibri"/>
            </a:endParaRPr>
          </a:p>
          <a:p>
            <a:pPr marL="487045">
              <a:lnSpc>
                <a:spcPts val="2460"/>
              </a:lnSpc>
              <a:spcBef>
                <a:spcPts val="35"/>
              </a:spcBef>
            </a:pPr>
            <a:r>
              <a:rPr sz="2100" dirty="0">
                <a:latin typeface="Calibri"/>
                <a:cs typeface="Calibri"/>
              </a:rPr>
              <a:t>any</a:t>
            </a:r>
            <a:r>
              <a:rPr sz="2100" spc="-114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location.</a:t>
            </a:r>
            <a:endParaRPr sz="2100" dirty="0">
              <a:latin typeface="Calibri"/>
              <a:cs typeface="Calibri"/>
            </a:endParaRPr>
          </a:p>
          <a:p>
            <a:pPr marL="485775" indent="-473075">
              <a:lnSpc>
                <a:spcPts val="2440"/>
              </a:lnSpc>
              <a:buAutoNum type="arabicPeriod" startAt="3"/>
              <a:tabLst>
                <a:tab pos="485775" algn="l"/>
              </a:tabLst>
            </a:pPr>
            <a:r>
              <a:rPr sz="2100" spc="-35" dirty="0">
                <a:latin typeface="Calibri"/>
                <a:cs typeface="Calibri"/>
              </a:rPr>
              <a:t>Encourages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higher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voter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participation.</a:t>
            </a:r>
            <a:endParaRPr sz="2100" dirty="0">
              <a:latin typeface="Calibri"/>
              <a:cs typeface="Calibri"/>
            </a:endParaRPr>
          </a:p>
          <a:p>
            <a:pPr marL="367665" lvl="1" indent="-354965">
              <a:lnSpc>
                <a:spcPts val="2475"/>
              </a:lnSpc>
              <a:buFont typeface="Arial MT"/>
              <a:buChar char="•"/>
              <a:tabLst>
                <a:tab pos="367665" algn="l"/>
              </a:tabLst>
            </a:pPr>
            <a:r>
              <a:rPr sz="2100" spc="-10" dirty="0">
                <a:latin typeface="Calibri"/>
                <a:cs typeface="Calibri"/>
              </a:rPr>
              <a:t>Future</a:t>
            </a:r>
            <a:r>
              <a:rPr sz="2100" spc="-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Scope:</a:t>
            </a:r>
            <a:endParaRPr sz="2100" dirty="0">
              <a:latin typeface="Calibri"/>
              <a:cs typeface="Calibri"/>
            </a:endParaRPr>
          </a:p>
          <a:p>
            <a:pPr marL="485775" indent="-473075">
              <a:lnSpc>
                <a:spcPts val="2500"/>
              </a:lnSpc>
              <a:buAutoNum type="arabicPeriod" startAt="4"/>
              <a:tabLst>
                <a:tab pos="485775" algn="l"/>
              </a:tabLst>
            </a:pPr>
            <a:r>
              <a:rPr sz="2100" spc="-35" dirty="0">
                <a:latin typeface="Calibri"/>
                <a:cs typeface="Calibri"/>
              </a:rPr>
              <a:t>Implementation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AI-</a:t>
            </a:r>
            <a:r>
              <a:rPr sz="2100" spc="-30" dirty="0">
                <a:latin typeface="Calibri"/>
                <a:cs typeface="Calibri"/>
              </a:rPr>
              <a:t>powered </a:t>
            </a:r>
            <a:r>
              <a:rPr sz="2100" spc="-10" dirty="0">
                <a:latin typeface="Calibri"/>
                <a:cs typeface="Calibri"/>
              </a:rPr>
              <a:t>fraud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detection.</a:t>
            </a:r>
            <a:endParaRPr sz="2100" dirty="0">
              <a:latin typeface="Calibri"/>
              <a:cs typeface="Calibri"/>
            </a:endParaRPr>
          </a:p>
          <a:p>
            <a:pPr marL="485775" indent="-473075">
              <a:lnSpc>
                <a:spcPct val="100000"/>
              </a:lnSpc>
              <a:spcBef>
                <a:spcPts val="30"/>
              </a:spcBef>
              <a:buAutoNum type="arabicPeriod" startAt="4"/>
              <a:tabLst>
                <a:tab pos="485775" algn="l"/>
              </a:tabLst>
            </a:pPr>
            <a:r>
              <a:rPr sz="2100" spc="-30" dirty="0">
                <a:latin typeface="Calibri"/>
                <a:cs typeface="Calibri"/>
              </a:rPr>
              <a:t>Expansion</a:t>
            </a:r>
            <a:r>
              <a:rPr sz="2100" spc="-10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global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elections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referendums.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3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Result</a:t>
            </a:r>
            <a:r>
              <a:rPr spc="-85" dirty="0"/>
              <a:t> </a:t>
            </a:r>
            <a:r>
              <a:rPr dirty="0"/>
              <a:t>for</a:t>
            </a:r>
            <a:r>
              <a:rPr spc="-140" dirty="0"/>
              <a:t> </a:t>
            </a:r>
            <a:r>
              <a:rPr dirty="0"/>
              <a:t>Voter</a:t>
            </a:r>
            <a:r>
              <a:rPr spc="-145" dirty="0"/>
              <a:t> </a:t>
            </a:r>
            <a:r>
              <a:rPr spc="-10" dirty="0"/>
              <a:t>Registration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27784"/>
            <a:ext cx="9468485" cy="5791810"/>
            <a:chOff x="614362" y="1327784"/>
            <a:chExt cx="9468485" cy="579181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pic>
        <p:nvPicPr>
          <p:cNvPr id="8" name="Picture 7" descr="A screenshot of a register&#10;&#10;AI-generated content may be incorrect.">
            <a:extLst>
              <a:ext uri="{FF2B5EF4-FFF2-40B4-BE49-F238E27FC236}">
                <a16:creationId xmlns:a16="http://schemas.microsoft.com/office/drawing/2014/main" id="{79069C0B-303B-8E47-6DB0-F0CE5C12E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50" y="1758950"/>
            <a:ext cx="600075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5373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</a:pPr>
            <a:r>
              <a:rPr dirty="0"/>
              <a:t>Press</a:t>
            </a:r>
            <a:r>
              <a:rPr spc="-85" dirty="0"/>
              <a:t> </a:t>
            </a:r>
            <a:r>
              <a:rPr dirty="0"/>
              <a:t>‘S’</a:t>
            </a:r>
            <a:r>
              <a:rPr spc="-4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voter</a:t>
            </a:r>
            <a:r>
              <a:rPr spc="-130" dirty="0"/>
              <a:t> </a:t>
            </a:r>
            <a:r>
              <a:rPr dirty="0"/>
              <a:t>Face</a:t>
            </a:r>
            <a:r>
              <a:rPr spc="-90" dirty="0"/>
              <a:t> </a:t>
            </a:r>
            <a:r>
              <a:rPr spc="-10" dirty="0"/>
              <a:t>verification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27784"/>
            <a:ext cx="9468485" cy="5791810"/>
            <a:chOff x="614362" y="1327784"/>
            <a:chExt cx="9468485" cy="579181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pic>
        <p:nvPicPr>
          <p:cNvPr id="8" name="Picture 7" descr="A person taking a selfie&#10;&#10;AI-generated content may be incorrect.">
            <a:extLst>
              <a:ext uri="{FF2B5EF4-FFF2-40B4-BE49-F238E27FC236}">
                <a16:creationId xmlns:a16="http://schemas.microsoft.com/office/drawing/2014/main" id="{5541D7C2-137A-4043-E974-F8F329E7F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1644650"/>
            <a:ext cx="6083300" cy="5105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13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dirty="0"/>
              <a:t>After</a:t>
            </a:r>
            <a:r>
              <a:rPr spc="-95" dirty="0"/>
              <a:t> </a:t>
            </a:r>
            <a:r>
              <a:rPr dirty="0"/>
              <a:t>Authentication</a:t>
            </a:r>
            <a:r>
              <a:rPr spc="-125" dirty="0"/>
              <a:t> </a:t>
            </a:r>
            <a:r>
              <a:rPr dirty="0"/>
              <a:t>then</a:t>
            </a:r>
            <a:r>
              <a:rPr spc="-130" dirty="0"/>
              <a:t> </a:t>
            </a:r>
            <a:r>
              <a:rPr dirty="0"/>
              <a:t>Cast</a:t>
            </a:r>
            <a:r>
              <a:rPr spc="-110" dirty="0"/>
              <a:t> </a:t>
            </a:r>
            <a:r>
              <a:rPr spc="-20" dirty="0"/>
              <a:t>Vote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27784"/>
            <a:ext cx="9468485" cy="5791810"/>
            <a:chOff x="614362" y="1327784"/>
            <a:chExt cx="9468485" cy="579181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E3B5C1E-83E1-D9DB-CA40-A347BE06D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1797050"/>
            <a:ext cx="6083300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13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dirty="0"/>
              <a:t>Vote</a:t>
            </a:r>
            <a:r>
              <a:rPr spc="-95" dirty="0"/>
              <a:t> </a:t>
            </a:r>
            <a:r>
              <a:rPr spc="-10" dirty="0"/>
              <a:t>submition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27784"/>
            <a:ext cx="9468485" cy="5791810"/>
            <a:chOff x="614362" y="1327784"/>
            <a:chExt cx="9468485" cy="5791810"/>
          </a:xfrm>
        </p:grpSpPr>
        <p:sp>
          <p:nvSpPr>
            <p:cNvPr id="4" name="object 4"/>
            <p:cNvSpPr/>
            <p:nvPr/>
          </p:nvSpPr>
          <p:spPr>
            <a:xfrm>
              <a:off x="614362" y="1327784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pic>
        <p:nvPicPr>
          <p:cNvPr id="8" name="Picture 7" descr="A graph with blue lines&#10;&#10;AI-generated content may be incorrect.">
            <a:extLst>
              <a:ext uri="{FF2B5EF4-FFF2-40B4-BE49-F238E27FC236}">
                <a16:creationId xmlns:a16="http://schemas.microsoft.com/office/drawing/2014/main" id="{CFE99DD4-8857-79C0-1BAC-7B904343E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1905000"/>
            <a:ext cx="6083300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Authentication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FB3B8E-6D60-8AB6-E827-7D3AACAF2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1758950"/>
            <a:ext cx="653415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396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25" dirty="0"/>
              <a:t> </a:t>
            </a:r>
            <a:r>
              <a:rPr spc="-10" dirty="0"/>
              <a:t>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4362" y="1327785"/>
            <a:ext cx="9468485" cy="5791809"/>
            <a:chOff x="614362" y="1327785"/>
            <a:chExt cx="9468485" cy="5791809"/>
          </a:xfrm>
        </p:grpSpPr>
        <p:sp>
          <p:nvSpPr>
            <p:cNvPr id="4" name="object 4"/>
            <p:cNvSpPr/>
            <p:nvPr/>
          </p:nvSpPr>
          <p:spPr>
            <a:xfrm>
              <a:off x="614362" y="1327785"/>
              <a:ext cx="9468485" cy="0"/>
            </a:xfrm>
            <a:custGeom>
              <a:avLst/>
              <a:gdLst/>
              <a:ahLst/>
              <a:cxnLst/>
              <a:rect l="l" t="t" r="r" b="b"/>
              <a:pathLst>
                <a:path w="9468485">
                  <a:moveTo>
                    <a:pt x="0" y="0"/>
                  </a:moveTo>
                  <a:lnTo>
                    <a:pt x="9467913" y="0"/>
                  </a:lnTo>
                </a:path>
              </a:pathLst>
            </a:custGeom>
            <a:ln w="26300">
              <a:solidFill>
                <a:srgbClr val="005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pic>
        <p:nvPicPr>
          <p:cNvPr id="11" name="Picture 10" descr="A graph on a white sheet&#10;&#10;AI-generated content may be incorrect.">
            <a:extLst>
              <a:ext uri="{FF2B5EF4-FFF2-40B4-BE49-F238E27FC236}">
                <a16:creationId xmlns:a16="http://schemas.microsoft.com/office/drawing/2014/main" id="{8DDDA2DC-D609-4908-A4ED-6CF91ED14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" y="1485584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437857"/>
            <a:ext cx="9429750" cy="1237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396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614362" y="1327785"/>
            <a:ext cx="9468485" cy="0"/>
          </a:xfrm>
          <a:custGeom>
            <a:avLst/>
            <a:gdLst/>
            <a:ahLst/>
            <a:cxnLst/>
            <a:rect l="l" t="t" r="r" b="b"/>
            <a:pathLst>
              <a:path w="9468485">
                <a:moveTo>
                  <a:pt x="0" y="0"/>
                </a:moveTo>
                <a:lnTo>
                  <a:pt x="9467913" y="0"/>
                </a:lnTo>
              </a:path>
            </a:pathLst>
          </a:custGeom>
          <a:ln w="26300">
            <a:solidFill>
              <a:srgbClr val="005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6757911"/>
            <a:ext cx="2495550" cy="3616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50160" y="1549717"/>
            <a:ext cx="6558280" cy="4815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7804" indent="471170">
              <a:lnSpc>
                <a:spcPct val="99800"/>
              </a:lnSpc>
              <a:spcBef>
                <a:spcPts val="105"/>
              </a:spcBef>
              <a:buAutoNum type="arabicPlain"/>
              <a:tabLst>
                <a:tab pos="483870" algn="l"/>
              </a:tabLst>
            </a:pPr>
            <a:r>
              <a:rPr sz="2100" dirty="0">
                <a:latin typeface="Calibri"/>
                <a:cs typeface="Calibri"/>
              </a:rPr>
              <a:t>R.</a:t>
            </a:r>
            <a:r>
              <a:rPr sz="2100" spc="-1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L.</a:t>
            </a:r>
            <a:r>
              <a:rPr sz="2100" spc="-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Rivest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J.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spc="-65" dirty="0">
                <a:latin typeface="Calibri"/>
                <a:cs typeface="Calibri"/>
              </a:rPr>
              <a:t>P.</a:t>
            </a:r>
            <a:r>
              <a:rPr sz="2100" spc="-21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Wack,</a:t>
            </a:r>
            <a:r>
              <a:rPr sz="2100" spc="-10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"On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9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Notion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of</a:t>
            </a:r>
            <a:r>
              <a:rPr sz="2100" b="1" spc="-7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‘Software </a:t>
            </a:r>
            <a:r>
              <a:rPr sz="2100" b="1" spc="-20" dirty="0">
                <a:latin typeface="Calibri"/>
                <a:cs typeface="Calibri"/>
              </a:rPr>
              <a:t>Independence’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in</a:t>
            </a:r>
            <a:r>
              <a:rPr sz="2100" b="1" spc="-75" dirty="0">
                <a:latin typeface="Calibri"/>
                <a:cs typeface="Calibri"/>
              </a:rPr>
              <a:t> </a:t>
            </a:r>
            <a:r>
              <a:rPr sz="2100" b="1" spc="-30" dirty="0">
                <a:latin typeface="Calibri"/>
                <a:cs typeface="Calibri"/>
              </a:rPr>
              <a:t>Voting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spc="-40" dirty="0">
                <a:latin typeface="Calibri"/>
                <a:cs typeface="Calibri"/>
              </a:rPr>
              <a:t>Systems,"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National</a:t>
            </a:r>
            <a:r>
              <a:rPr sz="2100" i="1" spc="-35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Institute</a:t>
            </a:r>
            <a:r>
              <a:rPr sz="2100" i="1" spc="-70" dirty="0">
                <a:latin typeface="Calibri"/>
                <a:cs typeface="Calibri"/>
              </a:rPr>
              <a:t> </a:t>
            </a:r>
            <a:r>
              <a:rPr sz="2100" i="1" spc="-25" dirty="0">
                <a:latin typeface="Calibri"/>
                <a:cs typeface="Calibri"/>
              </a:rPr>
              <a:t>of </a:t>
            </a:r>
            <a:r>
              <a:rPr sz="2100" i="1" spc="-30" dirty="0">
                <a:latin typeface="Calibri"/>
                <a:cs typeface="Calibri"/>
              </a:rPr>
              <a:t>Standards</a:t>
            </a:r>
            <a:r>
              <a:rPr sz="2100" i="1" spc="-5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and</a:t>
            </a:r>
            <a:r>
              <a:rPr sz="2100" i="1" spc="-65" dirty="0">
                <a:latin typeface="Calibri"/>
                <a:cs typeface="Calibri"/>
              </a:rPr>
              <a:t> </a:t>
            </a:r>
            <a:r>
              <a:rPr sz="2100" i="1" spc="-45" dirty="0">
                <a:latin typeface="Calibri"/>
                <a:cs typeface="Calibri"/>
              </a:rPr>
              <a:t>Technology</a:t>
            </a:r>
            <a:r>
              <a:rPr sz="2100" i="1" spc="-65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(NIST),</a:t>
            </a:r>
            <a:r>
              <a:rPr sz="2100" i="1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2006.</a:t>
            </a:r>
            <a:endParaRPr sz="2100" dirty="0">
              <a:latin typeface="Calibri"/>
              <a:cs typeface="Calibri"/>
            </a:endParaRPr>
          </a:p>
          <a:p>
            <a:pPr marL="12700" marR="33020" indent="471170">
              <a:lnSpc>
                <a:spcPct val="99700"/>
              </a:lnSpc>
              <a:spcBef>
                <a:spcPts val="114"/>
              </a:spcBef>
              <a:buAutoNum type="arabicPlain"/>
              <a:tabLst>
                <a:tab pos="483870" algn="l"/>
              </a:tabLst>
            </a:pPr>
            <a:r>
              <a:rPr sz="2100" dirty="0">
                <a:latin typeface="Calibri"/>
                <a:cs typeface="Calibri"/>
              </a:rPr>
              <a:t>D.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Chaum,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b="1" spc="-50" dirty="0">
                <a:latin typeface="Calibri"/>
                <a:cs typeface="Calibri"/>
              </a:rPr>
              <a:t>"Secret-</a:t>
            </a:r>
            <a:r>
              <a:rPr sz="2100" b="1" dirty="0">
                <a:latin typeface="Calibri"/>
                <a:cs typeface="Calibri"/>
              </a:rPr>
              <a:t>Ballot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spc="-25" dirty="0">
                <a:latin typeface="Calibri"/>
                <a:cs typeface="Calibri"/>
              </a:rPr>
              <a:t>Receipts: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35" dirty="0">
                <a:latin typeface="Calibri"/>
                <a:cs typeface="Calibri"/>
              </a:rPr>
              <a:t>True</a:t>
            </a:r>
            <a:r>
              <a:rPr sz="2100" b="1" spc="-85" dirty="0">
                <a:latin typeface="Calibri"/>
                <a:cs typeface="Calibri"/>
              </a:rPr>
              <a:t> </a:t>
            </a:r>
            <a:r>
              <a:rPr sz="2100" b="1" spc="-65" dirty="0">
                <a:latin typeface="Calibri"/>
                <a:cs typeface="Calibri"/>
              </a:rPr>
              <a:t>Voter-</a:t>
            </a:r>
            <a:r>
              <a:rPr sz="2100" b="1" spc="-10" dirty="0">
                <a:latin typeface="Calibri"/>
                <a:cs typeface="Calibri"/>
              </a:rPr>
              <a:t>Verifiable </a:t>
            </a:r>
            <a:r>
              <a:rPr sz="2100" b="1" spc="-20" dirty="0">
                <a:latin typeface="Calibri"/>
                <a:cs typeface="Calibri"/>
              </a:rPr>
              <a:t>Elections,"</a:t>
            </a:r>
            <a:r>
              <a:rPr sz="2100" b="1" spc="-8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IEEE</a:t>
            </a:r>
            <a:r>
              <a:rPr sz="2100" i="1" spc="-40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Security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&amp;</a:t>
            </a:r>
            <a:r>
              <a:rPr sz="2100" i="1" spc="-65" dirty="0">
                <a:latin typeface="Calibri"/>
                <a:cs typeface="Calibri"/>
              </a:rPr>
              <a:t> </a:t>
            </a:r>
            <a:r>
              <a:rPr sz="2100" i="1" spc="-40" dirty="0">
                <a:latin typeface="Calibri"/>
                <a:cs typeface="Calibri"/>
              </a:rPr>
              <a:t>Privacy,</a:t>
            </a:r>
            <a:r>
              <a:rPr sz="2100" i="1" spc="-8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vol.</a:t>
            </a:r>
            <a:r>
              <a:rPr sz="2100" i="1" spc="-3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2,</a:t>
            </a:r>
            <a:r>
              <a:rPr sz="2100" i="1" spc="-4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no.</a:t>
            </a:r>
            <a:r>
              <a:rPr sz="2100" i="1" spc="-9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1,</a:t>
            </a:r>
            <a:r>
              <a:rPr sz="2100" i="1" spc="-4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pp.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38-</a:t>
            </a:r>
            <a:r>
              <a:rPr sz="2100" i="1" spc="-25" dirty="0">
                <a:latin typeface="Calibri"/>
                <a:cs typeface="Calibri"/>
              </a:rPr>
              <a:t>47, </a:t>
            </a:r>
            <a:r>
              <a:rPr sz="2100" i="1" spc="-10" dirty="0">
                <a:latin typeface="Calibri"/>
                <a:cs typeface="Calibri"/>
              </a:rPr>
              <a:t>2004.</a:t>
            </a:r>
            <a:endParaRPr sz="2100" dirty="0">
              <a:latin typeface="Calibri"/>
              <a:cs typeface="Calibri"/>
            </a:endParaRPr>
          </a:p>
          <a:p>
            <a:pPr marL="483870" indent="-471170">
              <a:lnSpc>
                <a:spcPts val="2380"/>
              </a:lnSpc>
              <a:buAutoNum type="arabicPlain"/>
              <a:tabLst>
                <a:tab pos="483870" algn="l"/>
              </a:tabLst>
            </a:pPr>
            <a:r>
              <a:rPr sz="2100" dirty="0">
                <a:latin typeface="Calibri"/>
                <a:cs typeface="Calibri"/>
              </a:rPr>
              <a:t>J.</a:t>
            </a:r>
            <a:r>
              <a:rPr sz="2100" spc="-12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Benaloh,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D.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Byron,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R.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L.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Rivest,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95" dirty="0">
                <a:latin typeface="Calibri"/>
                <a:cs typeface="Calibri"/>
              </a:rPr>
              <a:t>P.</a:t>
            </a:r>
            <a:r>
              <a:rPr sz="2100" spc="-150" dirty="0">
                <a:latin typeface="Calibri"/>
                <a:cs typeface="Calibri"/>
              </a:rPr>
              <a:t> </a:t>
            </a:r>
            <a:r>
              <a:rPr sz="2100" spc="-70" dirty="0">
                <a:latin typeface="Calibri"/>
                <a:cs typeface="Calibri"/>
              </a:rPr>
              <a:t>Y.</a:t>
            </a:r>
            <a:r>
              <a:rPr sz="2100" spc="-18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Ryan,</a:t>
            </a:r>
            <a:r>
              <a:rPr sz="2100" spc="-90" dirty="0">
                <a:latin typeface="Calibri"/>
                <a:cs typeface="Calibri"/>
              </a:rPr>
              <a:t> </a:t>
            </a:r>
            <a:r>
              <a:rPr sz="2100" spc="-95" dirty="0">
                <a:latin typeface="Calibri"/>
                <a:cs typeface="Calibri"/>
              </a:rPr>
              <a:t>P.</a:t>
            </a:r>
            <a:r>
              <a:rPr sz="2100" spc="-1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Stark,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V.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480"/>
              </a:lnSpc>
            </a:pPr>
            <a:r>
              <a:rPr sz="2100" spc="-40" dirty="0">
                <a:latin typeface="Calibri"/>
                <a:cs typeface="Calibri"/>
              </a:rPr>
              <a:t>Teague,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65" dirty="0">
                <a:latin typeface="Calibri"/>
                <a:cs typeface="Calibri"/>
              </a:rPr>
              <a:t>P.</a:t>
            </a:r>
            <a:r>
              <a:rPr sz="2100" spc="-20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Vora,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b="1" spc="-35" dirty="0">
                <a:latin typeface="Calibri"/>
                <a:cs typeface="Calibri"/>
              </a:rPr>
              <a:t>"End-</a:t>
            </a:r>
            <a:r>
              <a:rPr sz="2100" b="1" spc="-45" dirty="0">
                <a:latin typeface="Calibri"/>
                <a:cs typeface="Calibri"/>
              </a:rPr>
              <a:t>to-</a:t>
            </a:r>
            <a:r>
              <a:rPr sz="2100" b="1" dirty="0">
                <a:latin typeface="Calibri"/>
                <a:cs typeface="Calibri"/>
              </a:rPr>
              <a:t>End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spc="-30" dirty="0">
                <a:latin typeface="Calibri"/>
                <a:cs typeface="Calibri"/>
              </a:rPr>
              <a:t>Verifiable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Elections,"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500"/>
              </a:lnSpc>
            </a:pPr>
            <a:r>
              <a:rPr sz="2100" i="1" spc="-35" dirty="0">
                <a:latin typeface="Calibri"/>
                <a:cs typeface="Calibri"/>
              </a:rPr>
              <a:t>Communications</a:t>
            </a:r>
            <a:r>
              <a:rPr sz="2100" i="1" spc="-12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of</a:t>
            </a:r>
            <a:r>
              <a:rPr sz="2100" i="1" spc="-4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the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ACM,</a:t>
            </a:r>
            <a:r>
              <a:rPr sz="2100" i="1" spc="-7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vol.</a:t>
            </a:r>
            <a:r>
              <a:rPr sz="2100" i="1" spc="-3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58,</a:t>
            </a:r>
            <a:r>
              <a:rPr sz="2100" i="1" spc="-3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no.</a:t>
            </a:r>
            <a:r>
              <a:rPr sz="2100" i="1" spc="-9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3,</a:t>
            </a:r>
            <a:r>
              <a:rPr sz="2100" i="1" spc="-45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pp.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60-</a:t>
            </a:r>
            <a:r>
              <a:rPr sz="2100" i="1" dirty="0">
                <a:latin typeface="Calibri"/>
                <a:cs typeface="Calibri"/>
              </a:rPr>
              <a:t>68,</a:t>
            </a:r>
            <a:r>
              <a:rPr sz="2100" i="1" spc="-30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2015.</a:t>
            </a:r>
            <a:endParaRPr sz="2100" dirty="0">
              <a:latin typeface="Calibri"/>
              <a:cs typeface="Calibri"/>
            </a:endParaRPr>
          </a:p>
          <a:p>
            <a:pPr marL="12700" marR="5080" indent="470534" algn="just">
              <a:lnSpc>
                <a:spcPct val="99800"/>
              </a:lnSpc>
              <a:spcBef>
                <a:spcPts val="110"/>
              </a:spcBef>
              <a:buAutoNum type="arabicPlain" startAt="4"/>
              <a:tabLst>
                <a:tab pos="483234" algn="l"/>
              </a:tabLst>
            </a:pPr>
            <a:r>
              <a:rPr sz="2100" spc="-135" dirty="0">
                <a:latin typeface="Calibri"/>
                <a:cs typeface="Calibri"/>
              </a:rPr>
              <a:t>T.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Kohno,</a:t>
            </a:r>
            <a:r>
              <a:rPr sz="2100" spc="-10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A.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Stubblefield,</a:t>
            </a:r>
            <a:r>
              <a:rPr sz="2100" spc="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A.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D.</a:t>
            </a:r>
            <a:r>
              <a:rPr sz="2100" spc="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Rubin,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D.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S.</a:t>
            </a:r>
            <a:r>
              <a:rPr sz="2100" spc="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Wallach, </a:t>
            </a:r>
            <a:r>
              <a:rPr sz="2100" b="1" spc="-10" dirty="0">
                <a:latin typeface="Calibri"/>
                <a:cs typeface="Calibri"/>
              </a:rPr>
              <a:t>"Analysis</a:t>
            </a:r>
            <a:r>
              <a:rPr sz="2100" b="1" spc="1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of</a:t>
            </a:r>
            <a:r>
              <a:rPr sz="2100" b="1" spc="1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an</a:t>
            </a:r>
            <a:r>
              <a:rPr sz="2100" b="1" spc="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Electronic</a:t>
            </a:r>
            <a:r>
              <a:rPr sz="2100" b="1" spc="1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Voting</a:t>
            </a:r>
            <a:r>
              <a:rPr sz="2100" b="1" spc="2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System,"</a:t>
            </a:r>
            <a:r>
              <a:rPr sz="2100" b="1" spc="-1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Proceedings</a:t>
            </a:r>
            <a:r>
              <a:rPr sz="2100" i="1" spc="-15" dirty="0">
                <a:latin typeface="Calibri"/>
                <a:cs typeface="Calibri"/>
              </a:rPr>
              <a:t> </a:t>
            </a:r>
            <a:r>
              <a:rPr sz="2100" i="1" spc="-25" dirty="0">
                <a:latin typeface="Calibri"/>
                <a:cs typeface="Calibri"/>
              </a:rPr>
              <a:t>of </a:t>
            </a:r>
            <a:r>
              <a:rPr sz="2100" i="1" dirty="0">
                <a:latin typeface="Calibri"/>
                <a:cs typeface="Calibri"/>
              </a:rPr>
              <a:t>the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spc="-10" dirty="0">
                <a:latin typeface="Calibri"/>
                <a:cs typeface="Calibri"/>
              </a:rPr>
              <a:t>IEEE</a:t>
            </a:r>
            <a:r>
              <a:rPr sz="2100" i="1" spc="-70" dirty="0">
                <a:latin typeface="Calibri"/>
                <a:cs typeface="Calibri"/>
              </a:rPr>
              <a:t> </a:t>
            </a:r>
            <a:r>
              <a:rPr sz="2100" i="1" spc="-25" dirty="0">
                <a:latin typeface="Calibri"/>
                <a:cs typeface="Calibri"/>
              </a:rPr>
              <a:t>Symposium</a:t>
            </a:r>
            <a:r>
              <a:rPr sz="2100" i="1" spc="-12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on</a:t>
            </a:r>
            <a:r>
              <a:rPr sz="2100" i="1" spc="-45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Security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dirty="0">
                <a:latin typeface="Calibri"/>
                <a:cs typeface="Calibri"/>
              </a:rPr>
              <a:t>and</a:t>
            </a:r>
            <a:r>
              <a:rPr sz="2100" i="1" spc="-90" dirty="0">
                <a:latin typeface="Calibri"/>
                <a:cs typeface="Calibri"/>
              </a:rPr>
              <a:t> </a:t>
            </a:r>
            <a:r>
              <a:rPr sz="2100" i="1" spc="-20" dirty="0">
                <a:latin typeface="Calibri"/>
                <a:cs typeface="Calibri"/>
              </a:rPr>
              <a:t>Privacy</a:t>
            </a:r>
            <a:r>
              <a:rPr sz="2100" spc="-20" dirty="0">
                <a:latin typeface="Calibri"/>
                <a:cs typeface="Calibri"/>
              </a:rPr>
              <a:t>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pp.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27-</a:t>
            </a:r>
            <a:r>
              <a:rPr sz="2100" dirty="0">
                <a:latin typeface="Calibri"/>
                <a:cs typeface="Calibri"/>
              </a:rPr>
              <a:t>40,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2004.</a:t>
            </a:r>
            <a:endParaRPr sz="2100" dirty="0">
              <a:latin typeface="Calibri"/>
              <a:cs typeface="Calibri"/>
            </a:endParaRPr>
          </a:p>
          <a:p>
            <a:pPr marL="483870" indent="-471170" algn="just">
              <a:lnSpc>
                <a:spcPts val="2455"/>
              </a:lnSpc>
              <a:buAutoNum type="arabicPlain" startAt="4"/>
              <a:tabLst>
                <a:tab pos="483870" algn="l"/>
              </a:tabLst>
            </a:pPr>
            <a:r>
              <a:rPr sz="2100" spc="-20" dirty="0">
                <a:latin typeface="Calibri"/>
                <a:cs typeface="Calibri"/>
              </a:rPr>
              <a:t>National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Democratic</a:t>
            </a:r>
            <a:r>
              <a:rPr sz="2100" spc="-10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Institute,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"The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spc="-20" dirty="0">
                <a:latin typeface="Calibri"/>
                <a:cs typeface="Calibri"/>
              </a:rPr>
              <a:t>Future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of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Online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ts val="2500"/>
              </a:lnSpc>
            </a:pPr>
            <a:r>
              <a:rPr sz="2100" b="1" spc="-35" dirty="0">
                <a:latin typeface="Calibri"/>
                <a:cs typeface="Calibri"/>
              </a:rPr>
              <a:t>Voting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in</a:t>
            </a:r>
            <a:r>
              <a:rPr sz="2100" b="1" spc="-70" dirty="0">
                <a:latin typeface="Calibri"/>
                <a:cs typeface="Calibri"/>
              </a:rPr>
              <a:t> </a:t>
            </a:r>
            <a:r>
              <a:rPr sz="2100" b="1" spc="-20" dirty="0">
                <a:latin typeface="Calibri"/>
                <a:cs typeface="Calibri"/>
              </a:rPr>
              <a:t>Elections,"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2022.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[Online].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Available:</a:t>
            </a:r>
            <a:endParaRPr sz="2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100" spc="-45" dirty="0">
                <a:latin typeface="Calibri"/>
                <a:cs typeface="Calibri"/>
              </a:rPr>
              <a:t>https://</a:t>
            </a:r>
            <a:r>
              <a:rPr sz="21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www.ndi.org/online-</a:t>
            </a:r>
            <a:r>
              <a:rPr sz="2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voting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228422"/>
            <a:ext cx="9467850" cy="7100570"/>
            <a:chOff x="609600" y="228422"/>
            <a:chExt cx="9467850" cy="71005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228422"/>
              <a:ext cx="9467850" cy="71005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6757911"/>
              <a:ext cx="2495550" cy="3616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22295" y="2959417"/>
            <a:ext cx="5643880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b="0" dirty="0">
                <a:solidFill>
                  <a:srgbClr val="005FAA"/>
                </a:solidFill>
                <a:latin typeface="Times New Roman"/>
                <a:cs typeface="Times New Roman"/>
              </a:rPr>
              <a:t>THANK</a:t>
            </a:r>
            <a:r>
              <a:rPr sz="7500" b="0" spc="100" dirty="0">
                <a:solidFill>
                  <a:srgbClr val="005FAA"/>
                </a:solidFill>
                <a:latin typeface="Times New Roman"/>
                <a:cs typeface="Times New Roman"/>
              </a:rPr>
              <a:t> </a:t>
            </a:r>
            <a:r>
              <a:rPr sz="7500" b="0" spc="-65" dirty="0">
                <a:solidFill>
                  <a:srgbClr val="E21E23"/>
                </a:solidFill>
                <a:latin typeface="Times New Roman"/>
                <a:cs typeface="Times New Roman"/>
              </a:rPr>
              <a:t>YOU</a:t>
            </a:r>
            <a:endParaRPr sz="7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765</Words>
  <Application>Microsoft Macintosh PowerPoint</Application>
  <PresentationFormat>Custom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Times New Roman</vt:lpstr>
      <vt:lpstr>Verdana</vt:lpstr>
      <vt:lpstr>Office Theme</vt:lpstr>
      <vt:lpstr>PowerPoint Presentation</vt:lpstr>
      <vt:lpstr>Secure Web based Voting System using face authentication</vt:lpstr>
      <vt:lpstr>Project Overview</vt:lpstr>
      <vt:lpstr>About the Problem</vt:lpstr>
      <vt:lpstr>Problem Statement</vt:lpstr>
      <vt:lpstr>Objectives</vt:lpstr>
      <vt:lpstr>Methodology, Tools, and Techniques</vt:lpstr>
      <vt:lpstr>Methodology Flowchart</vt:lpstr>
      <vt:lpstr>Expected Results &amp; Impact</vt:lpstr>
      <vt:lpstr>Project Result for Voter Registration</vt:lpstr>
      <vt:lpstr>Press ‘S’ for voter Face verification</vt:lpstr>
      <vt:lpstr>After Authentication then Cast Vote</vt:lpstr>
      <vt:lpstr>Vote submition</vt:lpstr>
      <vt:lpstr>For Authentication</vt:lpstr>
      <vt:lpstr>Project Timeline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SHAMI AHMAD 2301010030</cp:lastModifiedBy>
  <cp:revision>1</cp:revision>
  <dcterms:created xsi:type="dcterms:W3CDTF">2026-02-01T17:34:58Z</dcterms:created>
  <dcterms:modified xsi:type="dcterms:W3CDTF">2026-02-02T04:38:59Z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2025-04-28T00:00:00Z</vt:filetime>
  </property>
  <property fmtid="{D5CDD505-2E9C-101B-9397-08002B2CF9AE}" pid="3" name="LastSaved">
    <vt:filetime>2026-02-01T00:00:00Z</vt:filetime>
  </property>
</Properties>
</file>